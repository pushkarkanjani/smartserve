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 Cue: Greet the respected evaluation committee and our project mentor Deepak Sharma Sir. Introduce yourself: Pushkar Kanjani (23BIT153) and Aastha (23BIT095), B.Tech in ICT, Pandit Deendayal Energy University (PDEU). State clearly that this presentation represents the Mid-Semester Evaluation of SmartServe, covering ~55% of the overall scope. Highlight that all foundational modules—FastAPI backend on Render, PostgreSQL on Supabase, Dual OCR, and 4 Vercel SPAs—are fully functional and live.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 Cue: Explain the $20B on-demand home service market problem in India. Point out that dominant platforms like Urban Company rely on manual document verification taking 3-7 days. Highlight catalog contamination where random items get mixed in service steps, and lack of mathematical state machines leading to booking disputes.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 Cue: Emphasize the halfway boundary. State clearly to Deepak Sharma Sir and the panel: 'We are presenting a solid ~55% milestone today. Our foundational architecture, cloud database, dual OCR, and multi-portal SPAs are functional and live on Vercel and Render. Distributed Kafka streaming, live GPS map telemetry, and escrow payments form the planned deliverables for our final semester evaluation.'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 Cue: Walk through the comparative table. Highlight that while Urban Company has a curated catalog, their KYC takes 3 to 7 days of manual paperwork. TaskRabbit allows random unvetted services. SmartServe uniquely solves both with Automated Dual-Engine OCR and an Inviolable 457 Catalog.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 Cue: Explain the 4 specific research gaps. Show how each gap is not just an abstract idea, but directly solved by our code: PaddleOCR for Gap 1, Catalog Engine for Gap 2, FSM for Gap 3, and Zero-Trust RBAC for Gap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 Cue: Refer to the architecture diagram on the slide. Point to the right-hand card for the Tech Stack: React 19 on Vercel, FastAPI on Render, Supabase PostgreSQL, and PaddleOCR. Explain to the panel why each technology was selected over alternatives in simple terms: FastAPI for async speed and Swagger docs, PostgreSQL for ACID double-booking prevention.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 Cue: Explain the system modeling clearly to Deepak Sharma Sir and the panel. The DFD Level 0 clearly bounds the 3 actor roles: Customer, Partner, Admin. The UML Class diagram demonstrates clean relational normalization, with separate profiles, strict foreign keys, and audit logs.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 Cue: This is a core technical evaluation slide. Show the FSM diagram: explain that a booking cannot jump straight to Completed. The customer holds a 4-digit completion OTP that the provider must enter on-site, ensuring jobs are actually completed. Explain how Dual OCR processes Aadhaar and trade certificates in under 2.6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 Cue: Walk through the 4 engineering modules. Point out that the Master Catalog, Backend Core, and Web Portals are 100% implemented and deployed live. Acknowledge transparently that Event Streaming (Kafka) and Live GPS Telemetry are at ~40% progress, forming our active Phase 2 sprint.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 Cue: Point to the live screenshots on the slide. Show the Customer Portal with real active bookings ('Bridal Makeup ₹499' and 'Hair Spa ₹879') loaded from Supabase PostgreSQL. Point to the Service Detail screen showing 'Full Home Deep Cleaning ₹5,089' with rating 4.8 and 180 min duration. Mention the performance benchmark: OCR finishes in 2.64 seconds, and 24/24 integration tests passed.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 Cue: Conclude by outlining the clear 4-sprint roadmap for Weeks 8 to 15. Reiterate that the team has delivered a rock-solid, production-tested foundation for the Mid-Semester milestone, and is poised to complete event-driven Kafka dispatch and GPS tracking in the upcoming sprints.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 Cue: Thank Dr. Deepak Kumar Sharma Sir and the respected evaluation committee. Keep this slide on screen during the 5 minutes of Q&amp;A. Offer to open any of the live deployed Vercel portals or the interactive Swagger API console for a live demonstration.</a:t>
            </a:r>
          </a:p>
          <a:p/>
          <a:p>
            <a:r>
              <a:t>--- PERSONAL VIVA CROSS-QUESTIONING CHEAT SHEET (PRIVATE NOTES) ---</a:t>
            </a:r>
          </a:p>
          <a:p>
            <a:r>
              <a:t>Q1: Why PostgreSQL over MongoDB?</a:t>
            </a:r>
          </a:p>
          <a:p>
            <a:r>
              <a:t>Ans: Bookings require strict relational foreign keys and ACID transactions to guarantee that two customers cannot double-book the same partner.</a:t>
            </a:r>
          </a:p>
          <a:p/>
          <a:p>
            <a:r>
              <a:t>Q2: Why FastAPI over Flask/Django?</a:t>
            </a:r>
          </a:p>
          <a:p>
            <a:r>
              <a:t>Ans: FastAPI has native async I/O for high speed, automatically generates live OpenAPI Swagger docs at /docs, and validates schemas using Pydantic.</a:t>
            </a:r>
          </a:p>
          <a:p/>
          <a:p>
            <a:r>
              <a:t>Q3: Why Dual-Engine OCR (Paddle + EasyOCR)?</a:t>
            </a:r>
          </a:p>
          <a:p>
            <a:r>
              <a:t>Ans: Indian IDs often have uneven lighting or stamps; dual-engine fallback delivers 99% accuracy in 2.6s where single engines fail.</a:t>
            </a:r>
          </a:p>
          <a:p/>
          <a:p>
            <a:r>
              <a:t>Q4: Why is Kafka planned for Phase 2?</a:t>
            </a:r>
          </a:p>
          <a:p>
            <a:r>
              <a:t>Ans: Decouples driver GPS updates and order spikes so high traffic never blocks or crashes the main relational database.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F52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502920"/>
            <a:ext cx="10545775" cy="585216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de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685800"/>
            <a:ext cx="2926080" cy="78638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297680" y="685800"/>
            <a:ext cx="667512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600">
                <a:solidFill>
                  <a:srgbClr val="1F2A1E"/>
                </a:solidFill>
              </a:rPr>
              <a:t>PANDIT DEENDAYAL ENERGY UNIVERSITY (PDEU)</a:t>
            </a:r>
          </a:p>
          <a:p>
            <a:pPr>
              <a:spcBef>
                <a:spcPts val="200"/>
              </a:spcBef>
            </a:pPr>
            <a:r>
              <a:rPr b="1" sz="1150">
                <a:solidFill>
                  <a:srgbClr val="1F2A1E"/>
                </a:solidFill>
              </a:rPr>
              <a:t>DEPARTMENT OF INFORMATION AND COMMUNICATION TECHNOLOGY (ICT)
MINOR PROJECT MID-SEMESTER EVALUATION  •  SEMESTER 7 (2026-2027)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600200"/>
            <a:ext cx="981425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2F5233"/>
                </a:solidFill>
                <a:latin typeface="Segoe UI"/>
              </a:rPr>
              <a:t>SMARTSERVE: Intelligent Multi-Service
On-Demand Marketplace &amp; Operations Platform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64748B"/>
                </a:solidFill>
                <a:latin typeface="Segoe UI"/>
              </a:rPr>
              <a:t>A Multi-Tenant Cloud Architecture with Dual-Engine OCR KYC, 457-Service Master Catalog, and Atomic Booking FSM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88720" y="3291840"/>
            <a:ext cx="3291840" cy="1554480"/>
          </a:xfrm>
          <a:prstGeom prst="roundRect">
            <a:avLst/>
          </a:prstGeom>
          <a:solidFill>
            <a:srgbClr val="F8FAFC"/>
          </a:solidFill>
          <a:ln w="17780">
            <a:solidFill>
              <a:srgbClr val="2F52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98448" y="3383280"/>
            <a:ext cx="3072384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400">
                <a:solidFill>
                  <a:srgbClr val="2F5233"/>
                </a:solidFill>
              </a:rPr>
              <a:t>PUSHKAR KANJANI</a:t>
            </a:r>
          </a:p>
          <a:p>
            <a:pPr>
              <a:spcBef>
                <a:spcPts val="300"/>
              </a:spcBef>
            </a:pPr>
            <a:r>
              <a:rPr b="1" sz="1300">
                <a:solidFill>
                  <a:srgbClr val="1F2A1E"/>
                </a:solidFill>
              </a:rPr>
              <a:t>Roll Number: </a:t>
            </a:r>
            <a:r>
              <a:rPr b="1" sz="1350">
                <a:solidFill>
                  <a:srgbClr val="D97706"/>
                </a:solidFill>
              </a:rPr>
              <a:t>23BIT153</a:t>
            </a:r>
          </a:p>
          <a:p>
            <a:pPr>
              <a:spcBef>
                <a:spcPts val="200"/>
              </a:spcBef>
            </a:pPr>
            <a:r>
              <a:rPr sz="1150">
                <a:solidFill>
                  <a:srgbClr val="64748B"/>
                </a:solidFill>
              </a:rPr>
              <a:t>B.Tech in ICT, PDEU (7th Sem)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63440" y="3291840"/>
            <a:ext cx="3291840" cy="1554480"/>
          </a:xfrm>
          <a:prstGeom prst="roundRect">
            <a:avLst/>
          </a:prstGeom>
          <a:solidFill>
            <a:srgbClr val="F8FAFC"/>
          </a:solidFill>
          <a:ln w="17780">
            <a:solidFill>
              <a:srgbClr val="2F52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73168" y="3383280"/>
            <a:ext cx="3072384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400">
                <a:solidFill>
                  <a:srgbClr val="2F5233"/>
                </a:solidFill>
              </a:rPr>
              <a:t>AASTHA</a:t>
            </a:r>
          </a:p>
          <a:p>
            <a:pPr>
              <a:spcBef>
                <a:spcPts val="300"/>
              </a:spcBef>
            </a:pPr>
            <a:r>
              <a:rPr b="1" sz="1300">
                <a:solidFill>
                  <a:srgbClr val="1F2A1E"/>
                </a:solidFill>
              </a:rPr>
              <a:t>Roll Number: </a:t>
            </a:r>
            <a:r>
              <a:rPr b="1" sz="1350">
                <a:solidFill>
                  <a:srgbClr val="D97706"/>
                </a:solidFill>
              </a:rPr>
              <a:t>23BIT095</a:t>
            </a:r>
          </a:p>
          <a:p>
            <a:pPr>
              <a:spcBef>
                <a:spcPts val="200"/>
              </a:spcBef>
            </a:pPr>
            <a:r>
              <a:rPr sz="1150">
                <a:solidFill>
                  <a:srgbClr val="64748B"/>
                </a:solidFill>
              </a:rPr>
              <a:t>B.Tech in ICT, PDEU (7th Sem)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3291840"/>
            <a:ext cx="3017520" cy="1554480"/>
          </a:xfrm>
          <a:prstGeom prst="roundRect">
            <a:avLst/>
          </a:prstGeom>
          <a:solidFill>
            <a:srgbClr val="FEFCE8"/>
          </a:solidFill>
          <a:ln w="1778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47888" y="3383280"/>
            <a:ext cx="2798064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00">
                <a:solidFill>
                  <a:srgbClr val="C9A15A"/>
                </a:solidFill>
              </a:rPr>
              <a:t>PROJECT MENTOR:</a:t>
            </a:r>
          </a:p>
          <a:p>
            <a:pPr>
              <a:spcBef>
                <a:spcPts val="300"/>
              </a:spcBef>
            </a:pPr>
            <a:r>
              <a:rPr b="1" sz="1350">
                <a:solidFill>
                  <a:srgbClr val="2F5233"/>
                </a:solidFill>
              </a:rPr>
              <a:t>Dr. Deepak Kumar Sharma</a:t>
            </a:r>
          </a:p>
          <a:p>
            <a:pPr>
              <a:spcBef>
                <a:spcPts val="200"/>
              </a:spcBef>
            </a:pPr>
            <a:r>
              <a:rPr sz="1150">
                <a:solidFill>
                  <a:srgbClr val="1F2A1E"/>
                </a:solidFill>
              </a:rPr>
              <a:t>Asst. Professor
Department of ICT, SoT, PDEU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88720" y="4983480"/>
            <a:ext cx="9966960" cy="1051560"/>
          </a:xfrm>
          <a:prstGeom prst="roundRect">
            <a:avLst/>
          </a:prstGeom>
          <a:solidFill>
            <a:srgbClr val="F0FDF4"/>
          </a:solidFill>
          <a:ln w="1778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0" y="5029200"/>
            <a:ext cx="96012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300">
                <a:solidFill>
                  <a:srgbClr val="16A34A"/>
                </a:solidFill>
              </a:rPr>
              <a:t>MID-SEMESTER MILESTONE STATUS: </a:t>
            </a:r>
            <a:r>
              <a:rPr sz="1200">
                <a:solidFill>
                  <a:srgbClr val="1F2A1E"/>
                </a:solidFill>
              </a:rPr>
              <a:t>Phase 1 Complete (~55% Progress)  •  Core Backend API, Supabase Cloud DB, Multi-Portal SPAs &amp; Dual OCR Live  •  Apache Kafka Event Streaming &amp; Live GPS Telemetry in active Phase 2 development.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de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0" y="228600"/>
            <a:ext cx="1828800" cy="49377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256032"/>
            <a:ext cx="8778240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50" b="1">
                <a:solidFill>
                  <a:srgbClr val="1F2A1E"/>
                </a:solidFill>
                <a:latin typeface="Segoe UI"/>
              </a:rPr>
              <a:t>CONTEXT &amp; MARKET CHALLENGES  |  SLIDE 2 OF 12  •  PDEU ICT</a:t>
            </a:r>
          </a:p>
          <a:p>
            <a:r>
              <a:rPr sz="2200" b="1">
                <a:solidFill>
                  <a:srgbClr val="2F5233"/>
                </a:solidFill>
                <a:latin typeface="Segoe UI"/>
              </a:rPr>
              <a:t>Introduction &amp; Real-World Problem Motivation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3474720" cy="3977639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3474720" cy="777240"/>
          </a:xfrm>
          <a:prstGeom prst="roundRect">
            <a:avLst/>
          </a:prstGeom>
          <a:solidFill>
            <a:srgbClr val="2F5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400">
                <a:solidFill>
                  <a:srgbClr val="FFFFFF"/>
                </a:solidFill>
              </a:rPr>
              <a:t>PROBLEM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2194560"/>
            <a:ext cx="3145536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350">
                <a:solidFill>
                  <a:srgbClr val="1F2A1E"/>
                </a:solidFill>
              </a:rPr>
              <a:t>Slow &amp; Fraudulent KYC Onboarding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1F2A1E"/>
                </a:solidFill>
              </a:rPr>
              <a:t>• Manual paper review takes 3 to 7 days, delaying provider onboarding.
• Forged trade licenses and fake identity cards slip through undetected, threatening customer safety.
• Zero automated cross-verification of Aadhaar, PAN, and credentials.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61688" y="1325880"/>
            <a:ext cx="3474720" cy="3977639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61688" y="1325880"/>
            <a:ext cx="3474720" cy="77724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400">
                <a:solidFill>
                  <a:srgbClr val="FFFFFF"/>
                </a:solidFill>
              </a:rPr>
              <a:t>PROBLEM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2194560"/>
            <a:ext cx="3145536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350">
                <a:solidFill>
                  <a:srgbClr val="1F2A1E"/>
                </a:solidFill>
              </a:rPr>
              <a:t>Catalog Contamination &amp; Price Gouging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1F2A1E"/>
                </a:solidFill>
              </a:rPr>
              <a:t>• Existing platforms suffer from dirty catalog data with nonsensical inclusions.
• Real Example: Automotive repair tools listed inside salon facials.
• Arbitrary surge pricing without transparent rate cards causes customer churn.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91856" y="1325880"/>
            <a:ext cx="3474720" cy="3977639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991856" y="1325880"/>
            <a:ext cx="3474720" cy="7772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400">
                <a:solidFill>
                  <a:srgbClr val="FFFFFF"/>
                </a:solidFill>
              </a:rPr>
              <a:t>PROBLEM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56448" y="2194560"/>
            <a:ext cx="3145536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350">
                <a:solidFill>
                  <a:srgbClr val="1F2A1E"/>
                </a:solidFill>
              </a:rPr>
              <a:t>Double-Bookings &amp; Lost Status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1F2A1E"/>
                </a:solidFill>
              </a:rPr>
              <a:t>• Concurrency race conditions cause two providers to get the same booking.
• Lack of atomic state machines leads to orphaned requested states and lost fees.
• Customers and providers lack unified real-time operational transparency.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440680"/>
            <a:ext cx="10728655" cy="105156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F52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486400"/>
            <a:ext cx="103327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300">
                <a:solidFill>
                  <a:srgbClr val="2F5233"/>
                </a:solidFill>
              </a:rPr>
              <a:t>SMARTSERVE CORE VALUE PROPOSITION: </a:t>
            </a:r>
            <a:r>
              <a:rPr sz="1200">
                <a:solidFill>
                  <a:srgbClr val="1F2A1E"/>
                </a:solidFill>
              </a:rPr>
              <a:t>Replaces manual bottlenecks with an automated Dual-Engine OCR KYC pipeline (&lt;2.6s), an Inviolable 457-Service Master Catalog, and an atomic 5-Stage Booking Finite State Machine with customer OTP verification.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de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0" y="228600"/>
            <a:ext cx="1828800" cy="49377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256032"/>
            <a:ext cx="8778240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50" b="1">
                <a:solidFill>
                  <a:srgbClr val="1F2A1E"/>
                </a:solidFill>
                <a:latin typeface="Segoe UI"/>
              </a:rPr>
              <a:t>SCOPE &amp; DELIVERABLES  |  SLIDE 3 OF 12  •  PDEU ICT</a:t>
            </a:r>
          </a:p>
          <a:p>
            <a:r>
              <a:rPr sz="2200" b="1">
                <a:solidFill>
                  <a:srgbClr val="2F5233"/>
                </a:solidFill>
                <a:latin typeface="Segoe UI"/>
              </a:rPr>
              <a:t>Project Objectives: Mid-Sem vs. End-Sem Roadmap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5212080" cy="516636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5212080" cy="731520"/>
          </a:xfrm>
          <a:prstGeom prst="roundRect">
            <a:avLst/>
          </a:prstGeom>
          <a:solidFill>
            <a:srgbClr val="2F5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300">
                <a:solidFill>
                  <a:srgbClr val="FFFFFF"/>
                </a:solidFill>
              </a:rPr>
              <a:t>PHASE 1: MID-SEM DELIVERABLES (COMPLETED ~55%)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148840"/>
            <a:ext cx="49377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b="1" sz="1200">
                <a:solidFill>
                  <a:srgbClr val="2F5233"/>
                </a:solidFill>
              </a:rPr>
              <a:t>✔ Master Service Catalog: </a:t>
            </a:r>
            <a:r>
              <a:rPr sz="1150">
                <a:solidFill>
                  <a:srgbClr val="1F2A1E"/>
                </a:solidFill>
              </a:rPr>
              <a:t>14 Categories, 78 Subcategories, 457 Services with fixed inclusions, pricing, and duration SLAs.</a:t>
            </a:r>
          </a:p>
          <a:p>
            <a:pPr>
              <a:spcBef>
                <a:spcPts val="500"/>
              </a:spcBef>
            </a:pPr>
            <a:r>
              <a:rPr b="1" sz="1200">
                <a:solidFill>
                  <a:srgbClr val="2F5233"/>
                </a:solidFill>
              </a:rPr>
              <a:t>✔ Modular FastAPI Backend: </a:t>
            </a:r>
            <a:r>
              <a:rPr sz="1150">
                <a:solidFill>
                  <a:srgbClr val="1F2A1E"/>
                </a:solidFill>
              </a:rPr>
              <a:t>RESTful core with Pydantic V2 schemas, async pooling, and Docker deployment on Render Cloud.</a:t>
            </a:r>
          </a:p>
          <a:p>
            <a:pPr>
              <a:spcBef>
                <a:spcPts val="500"/>
              </a:spcBef>
            </a:pPr>
            <a:r>
              <a:rPr b="1" sz="1200">
                <a:solidFill>
                  <a:srgbClr val="2F5233"/>
                </a:solidFill>
              </a:rPr>
              <a:t>✔ Relational Cloud Store: </a:t>
            </a:r>
            <a:r>
              <a:rPr sz="1150">
                <a:solidFill>
                  <a:srgbClr val="1F2A1E"/>
                </a:solidFill>
              </a:rPr>
              <a:t>15+ Normalized PostgreSQL tables on Supabase with strict constraints and foreign keys.</a:t>
            </a:r>
          </a:p>
          <a:p>
            <a:pPr>
              <a:spcBef>
                <a:spcPts val="500"/>
              </a:spcBef>
            </a:pPr>
            <a:r>
              <a:rPr b="1" sz="1200">
                <a:solidFill>
                  <a:srgbClr val="2F5233"/>
                </a:solidFill>
              </a:rPr>
              <a:t>✔ Dual-Engine OCR Verification: </a:t>
            </a:r>
            <a:r>
              <a:rPr sz="1150">
                <a:solidFill>
                  <a:srgbClr val="1F2A1E"/>
                </a:solidFill>
              </a:rPr>
              <a:t>PaddleOCR + EasyOCR pipeline with regex heuristic risk parser for Aadhaar/PAN (&lt;2.6s latency).</a:t>
            </a:r>
          </a:p>
          <a:p>
            <a:pPr>
              <a:spcBef>
                <a:spcPts val="500"/>
              </a:spcBef>
            </a:pPr>
            <a:r>
              <a:rPr b="1" sz="1200">
                <a:solidFill>
                  <a:srgbClr val="2F5233"/>
                </a:solidFill>
              </a:rPr>
              <a:t>✔ Booking State Machine: </a:t>
            </a:r>
            <a:r>
              <a:rPr sz="1150">
                <a:solidFill>
                  <a:srgbClr val="1F2A1E"/>
                </a:solidFill>
              </a:rPr>
              <a:t>Atomic 5-stage FSM (Requested -&gt; Accepted -&gt; Started -&gt; Completed via Customer OTP).</a:t>
            </a:r>
          </a:p>
          <a:p>
            <a:pPr>
              <a:spcBef>
                <a:spcPts val="500"/>
              </a:spcBef>
            </a:pPr>
            <a:r>
              <a:rPr b="1" sz="1200">
                <a:solidFill>
                  <a:srgbClr val="2F5233"/>
                </a:solidFill>
              </a:rPr>
              <a:t>✔ Multi-Portal Frontends: </a:t>
            </a:r>
            <a:r>
              <a:rPr sz="1150">
                <a:solidFill>
                  <a:srgbClr val="1F2A1E"/>
                </a:solidFill>
              </a:rPr>
              <a:t>Customer, Partner, Admin, and Landing SPAs deployed on Vercel with active client routing.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25880"/>
            <a:ext cx="5212080" cy="516636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17920" y="1325880"/>
            <a:ext cx="5212080" cy="73152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300">
                <a:solidFill>
                  <a:srgbClr val="FFFFFF"/>
                </a:solidFill>
              </a:rPr>
              <a:t>PHASE 2: END-SEM ROADMAP (IN PROGRESS ~45%)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2148840"/>
            <a:ext cx="49377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b="1" sz="1200">
                <a:solidFill>
                  <a:srgbClr val="D97706"/>
                </a:solidFill>
              </a:rPr>
              <a:t>⏳ Distributed Kafka Event Bus: </a:t>
            </a:r>
            <a:r>
              <a:rPr sz="1150">
                <a:solidFill>
                  <a:srgbClr val="1F2A1E"/>
                </a:solidFill>
              </a:rPr>
              <a:t>Deploy Redpanda/Kafka broker orchestration across 7 canonical event topics to decouple peak order dispatch.</a:t>
            </a:r>
          </a:p>
          <a:p>
            <a:pPr>
              <a:spcBef>
                <a:spcPts val="700"/>
              </a:spcBef>
            </a:pPr>
            <a:r>
              <a:rPr b="1" sz="1200">
                <a:solidFill>
                  <a:srgbClr val="D97706"/>
                </a:solidFill>
              </a:rPr>
              <a:t>⏳ Live GPS Driver Telemetry: </a:t>
            </a:r>
            <a:r>
              <a:rPr sz="1150">
                <a:solidFill>
                  <a:srgbClr val="1F2A1E"/>
                </a:solidFill>
              </a:rPr>
              <a:t>Integrate real-time WebSocket coordinate streaming, dynamic Leaflet route geometries, and live driver ETA updates.</a:t>
            </a:r>
          </a:p>
          <a:p>
            <a:pPr>
              <a:spcBef>
                <a:spcPts val="700"/>
              </a:spcBef>
            </a:pPr>
            <a:r>
              <a:rPr b="1" sz="1200">
                <a:solidFill>
                  <a:srgbClr val="D97706"/>
                </a:solidFill>
              </a:rPr>
              <a:t>⏳ Payment Gateway &amp; Escrow: </a:t>
            </a:r>
            <a:r>
              <a:rPr sz="1150">
                <a:solidFill>
                  <a:srgbClr val="1F2A1E"/>
                </a:solidFill>
              </a:rPr>
              <a:t>Integrate Razorpay / Stripe webhooks with automated escrow holds and instant payout upon verified customer OTP closure.</a:t>
            </a:r>
          </a:p>
          <a:p>
            <a:pPr>
              <a:spcBef>
                <a:spcPts val="700"/>
              </a:spcBef>
            </a:pPr>
            <a:r>
              <a:rPr b="1" sz="1200">
                <a:solidFill>
                  <a:srgbClr val="D97706"/>
                </a:solidFill>
              </a:rPr>
              <a:t>⏳ AI Support &amp; Anomaly Engine: </a:t>
            </a:r>
            <a:r>
              <a:rPr sz="1150">
                <a:solidFill>
                  <a:srgbClr val="1F2A1E"/>
                </a:solidFill>
              </a:rPr>
              <a:t>Deploy conversational RAG support agent with anomaly flagging for fraudulent dispute resolution.</a:t>
            </a:r>
          </a:p>
          <a:p>
            <a:pPr>
              <a:spcBef>
                <a:spcPts val="700"/>
              </a:spcBef>
            </a:pPr>
            <a:r>
              <a:rPr b="1" sz="1200">
                <a:solidFill>
                  <a:srgbClr val="D97706"/>
                </a:solidFill>
              </a:rPr>
              <a:t>⏳ Production Load Testing: </a:t>
            </a:r>
            <a:r>
              <a:rPr sz="1150">
                <a:solidFill>
                  <a:srgbClr val="1F2A1E"/>
                </a:solidFill>
              </a:rPr>
              <a:t>Simulate 1,000+ concurrent user booking requests with Locust to measure broker throughput and database lock latency.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de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0" y="228600"/>
            <a:ext cx="1828800" cy="49377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256032"/>
            <a:ext cx="8778240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50" b="1">
                <a:solidFill>
                  <a:srgbClr val="1F2A1E"/>
                </a:solidFill>
                <a:latin typeface="Segoe UI"/>
              </a:rPr>
              <a:t>STATE OF THE ART COMPARISON  |  SLIDE 4 OF 12  •  PDEU ICT</a:t>
            </a:r>
          </a:p>
          <a:p>
            <a:r>
              <a:rPr sz="2200" b="1">
                <a:solidFill>
                  <a:srgbClr val="2F5233"/>
                </a:solidFill>
                <a:latin typeface="Segoe UI"/>
              </a:rPr>
              <a:t>Literature Survey &amp; Industry Benchmark Matrix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25880"/>
          <a:ext cx="10728655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103120"/>
                <a:gridCol w="2194560"/>
                <a:gridCol w="2194560"/>
                <a:gridCol w="2224735"/>
              </a:tblGrid>
              <a:tr h="685800">
                <a:tc>
                  <a:txBody>
                    <a:bodyPr/>
                    <a:lstStyle/>
                    <a:p>
                      <a:pPr algn="l"/>
                      <a:r>
                        <a:rPr b="1" sz="1250">
                          <a:solidFill>
                            <a:srgbClr val="FFFFFF"/>
                          </a:solidFill>
                          <a:latin typeface="Segoe UI"/>
                        </a:rPr>
                        <a:t>Evaluation Dimension</a:t>
                      </a:r>
                    </a:p>
                  </a:txBody>
                  <a:tcPr anchor="ctr">
                    <a:solidFill>
                      <a:srgbClr val="2F52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50">
                          <a:solidFill>
                            <a:srgbClr val="FFFFFF"/>
                          </a:solidFill>
                          <a:latin typeface="Segoe UI"/>
                        </a:rPr>
                        <a:t>Urban Company</a:t>
                      </a:r>
                    </a:p>
                  </a:txBody>
                  <a:tcPr anchor="ctr">
                    <a:solidFill>
                      <a:srgbClr val="2F52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50">
                          <a:solidFill>
                            <a:srgbClr val="FFFFFF"/>
                          </a:solidFill>
                          <a:latin typeface="Segoe UI"/>
                        </a:rPr>
                        <a:t>TaskRabbit / Handy</a:t>
                      </a:r>
                    </a:p>
                  </a:txBody>
                  <a:tcPr anchor="ctr">
                    <a:solidFill>
                      <a:srgbClr val="2F52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50">
                          <a:solidFill>
                            <a:srgbClr val="FFFFFF"/>
                          </a:solidFill>
                          <a:latin typeface="Segoe UI"/>
                        </a:rPr>
                        <a:t>Uber / Swiggy Logistics</a:t>
                      </a:r>
                    </a:p>
                  </a:txBody>
                  <a:tcPr anchor="ctr">
                    <a:solidFill>
                      <a:srgbClr val="2F52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50">
                          <a:solidFill>
                            <a:srgbClr val="FFFFFF"/>
                          </a:solidFill>
                          <a:latin typeface="Segoe UI"/>
                        </a:rPr>
                        <a:t>SmartServe (Proposed)</a:t>
                      </a:r>
                    </a:p>
                  </a:txBody>
                  <a:tcPr anchor="ctr">
                    <a:solidFill>
                      <a:srgbClr val="2F5233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F2A1E"/>
                          </a:solidFill>
                          <a:latin typeface="Segoe UI"/>
                        </a:rPr>
                        <a:t>Architecture Pattern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F2A1E"/>
                          </a:solidFill>
                          <a:latin typeface="Segoe UI"/>
                        </a:rPr>
                        <a:t>Centralized Monolith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F2A1E"/>
                          </a:solidFill>
                          <a:latin typeface="Segoe UI"/>
                        </a:rPr>
                        <a:t>Peer-to-Peer Web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F2A1E"/>
                          </a:solidFill>
                          <a:latin typeface="Segoe UI"/>
                        </a:rPr>
                        <a:t>Event-Driven Microservices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2F5233"/>
                          </a:solidFill>
                          <a:latin typeface="Segoe UI"/>
                        </a:rPr>
                        <a:t>Modular Multi-Portal (FastAPI)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F2A1E"/>
                          </a:solidFill>
                          <a:latin typeface="Segoe UI"/>
                        </a:rPr>
                        <a:t>KYC Verification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F2A1E"/>
                          </a:solidFill>
                          <a:latin typeface="Segoe UI"/>
                        </a:rPr>
                        <a:t>Manual Review (3-7 days)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F2A1E"/>
                          </a:solidFill>
                          <a:latin typeface="Segoe UI"/>
                        </a:rPr>
                        <a:t>Third-party Check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F2A1E"/>
                          </a:solidFill>
                          <a:latin typeface="Segoe UI"/>
                        </a:rPr>
                        <a:t>Document Upload Only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2F5233"/>
                          </a:solidFill>
                          <a:latin typeface="Segoe UI"/>
                        </a:rPr>
                        <a:t>Automated Dual OCR (&lt;2.6s)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F2A1E"/>
                          </a:solidFill>
                          <a:latin typeface="Segoe UI"/>
                        </a:rPr>
                        <a:t>Catalog Integrity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F2A1E"/>
                          </a:solidFill>
                          <a:latin typeface="Segoe UI"/>
                        </a:rPr>
                        <a:t>Curated but Closed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F2A1E"/>
                          </a:solidFill>
                          <a:latin typeface="Segoe UI"/>
                        </a:rPr>
                        <a:t>Unstructured User Posts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F2A1E"/>
                          </a:solidFill>
                          <a:latin typeface="Segoe UI"/>
                        </a:rPr>
                        <a:t>Point-to-Point Transit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2F5233"/>
                          </a:solidFill>
                          <a:latin typeface="Segoe UI"/>
                        </a:rPr>
                        <a:t>Inviolable 457 Catalog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F2A1E"/>
                          </a:solidFill>
                          <a:latin typeface="Segoe UI"/>
                        </a:rPr>
                        <a:t>State Transition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F2A1E"/>
                          </a:solidFill>
                          <a:latin typeface="Segoe UI"/>
                        </a:rPr>
                        <a:t>Proprietary Linear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F2A1E"/>
                          </a:solidFill>
                          <a:latin typeface="Segoe UI"/>
                        </a:rPr>
                        <a:t>Loosely Coupled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F2A1E"/>
                          </a:solidFill>
                          <a:latin typeface="Segoe UI"/>
                        </a:rPr>
                        <a:t>Rigid Real-Time Dispatch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2F5233"/>
                          </a:solidFill>
                          <a:latin typeface="Segoe UI"/>
                        </a:rPr>
                        <a:t>Atomic 5-Stage FSM with OTP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F2A1E"/>
                          </a:solidFill>
                          <a:latin typeface="Segoe UI"/>
                        </a:rPr>
                        <a:t>Partner Commission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F2A1E"/>
                          </a:solidFill>
                          <a:latin typeface="Segoe UI"/>
                        </a:rPr>
                        <a:t>High (25% – 35%)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F2A1E"/>
                          </a:solidFill>
                          <a:latin typeface="Segoe UI"/>
                        </a:rPr>
                        <a:t>15% – 20% Fee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F2A1E"/>
                          </a:solidFill>
                          <a:latin typeface="Segoe UI"/>
                        </a:rPr>
                        <a:t>20% – 30% Per Ride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2F5233"/>
                          </a:solidFill>
                          <a:latin typeface="Segoe UI"/>
                        </a:rPr>
                        <a:t>Low Fair Tier (Direct Escrow)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31520" y="5577840"/>
            <a:ext cx="10728655" cy="9144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562356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C9A15A"/>
                </a:solidFill>
              </a:rPr>
              <a:t>LITERATURE SURVEY CONCLUSION: </a:t>
            </a:r>
            <a:r>
              <a:rPr sz="1150">
                <a:solidFill>
                  <a:srgbClr val="1F2A1E"/>
                </a:solidFill>
              </a:rPr>
              <a:t>Existing platforms either sacrifice verification speed for manual control (Urban Company) or sacrifice service consistency for open listings (TaskRabbit). SmartServe combines high-accuracy computer vision with deterministic state machines to achieve enterprise rigor at speed.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de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0" y="228600"/>
            <a:ext cx="1828800" cy="49377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256032"/>
            <a:ext cx="8778240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50" b="1">
                <a:solidFill>
                  <a:srgbClr val="1F2A1E"/>
                </a:solidFill>
                <a:latin typeface="Segoe UI"/>
              </a:rPr>
              <a:t>ENGINEERING INNOVATION  |  SLIDE 5 OF 12  •  PDEU ICT</a:t>
            </a:r>
          </a:p>
          <a:p>
            <a:r>
              <a:rPr sz="2200" b="1">
                <a:solidFill>
                  <a:srgbClr val="2F5233"/>
                </a:solidFill>
                <a:latin typeface="Segoe UI"/>
              </a:rPr>
              <a:t>Research Gaps Identified &amp; Technical Remediation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5212080" cy="242316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484632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300">
                <a:solidFill>
                  <a:srgbClr val="2F5233"/>
                </a:solidFill>
              </a:rPr>
              <a:t>GAP 1: Manual KYC Delays (72-120 Hours)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1F2A1E"/>
                </a:solidFill>
              </a:rPr>
              <a:t>Current Issue: Providers wait 3–5 days for human verification; fraudulent trade licenses slip past unnoticed.
</a:t>
            </a:r>
          </a:p>
          <a:p>
            <a:pPr>
              <a:spcBef>
                <a:spcPts val="400"/>
              </a:spcBef>
            </a:pPr>
            <a:r>
              <a:rPr b="1" sz="1200">
                <a:solidFill>
                  <a:srgbClr val="16A34A"/>
                </a:solidFill>
              </a:rPr>
              <a:t>SmartServe Solution: </a:t>
            </a:r>
            <a:r>
              <a:rPr sz="1150">
                <a:solidFill>
                  <a:srgbClr val="1F2A1E"/>
                </a:solidFill>
              </a:rPr>
              <a:t>Automated Dual-Engine OCR (PaddleOCR + EasyOCR) extracting identity data and validating trade authenticity in &lt;2.6s.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90488" y="1325880"/>
            <a:ext cx="5212080" cy="242316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73368" y="1463040"/>
            <a:ext cx="484632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300">
                <a:solidFill>
                  <a:srgbClr val="2F5233"/>
                </a:solidFill>
              </a:rPr>
              <a:t>GAP 2: Catalog Data Contamination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1F2A1E"/>
                </a:solidFill>
              </a:rPr>
              <a:t>Current Issue: Listings contain nonsensical steps, missing tools, and misleading inclusions (e.g., auto tools in salon).
</a:t>
            </a:r>
          </a:p>
          <a:p>
            <a:pPr>
              <a:spcBef>
                <a:spcPts val="400"/>
              </a:spcBef>
            </a:pPr>
            <a:r>
              <a:rPr b="1" sz="1200">
                <a:solidFill>
                  <a:srgbClr val="16A34A"/>
                </a:solidFill>
              </a:rPr>
              <a:t>SmartServe Solution: </a:t>
            </a:r>
            <a:r>
              <a:rPr sz="1150">
                <a:solidFill>
                  <a:srgbClr val="1F2A1E"/>
                </a:solidFill>
              </a:rPr>
              <a:t>11 Inviolable Master Catalog Protection Rules with 457 curated services, fixed durations, and standardized tools.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886200"/>
            <a:ext cx="5212080" cy="242316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023360"/>
            <a:ext cx="484632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300">
                <a:solidFill>
                  <a:srgbClr val="2F5233"/>
                </a:solidFill>
              </a:rPr>
              <a:t>GAP 3: Concurrent Double-Bookings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1F2A1E"/>
                </a:solidFill>
              </a:rPr>
              <a:t>Current Issue: Concurrency race conditions cause two providers to get the same booking or orphaned status.
</a:t>
            </a:r>
          </a:p>
          <a:p>
            <a:pPr>
              <a:spcBef>
                <a:spcPts val="400"/>
              </a:spcBef>
            </a:pPr>
            <a:r>
              <a:rPr b="1" sz="1200">
                <a:solidFill>
                  <a:srgbClr val="16A34A"/>
                </a:solidFill>
              </a:rPr>
              <a:t>SmartServe Solution: </a:t>
            </a:r>
            <a:r>
              <a:rPr sz="1150">
                <a:solidFill>
                  <a:srgbClr val="1F2A1E"/>
                </a:solidFill>
              </a:rPr>
              <a:t>Deterministic 5-stage Finite State Machine with atomic locks and mandatory 4-digit customer OTP closure.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0488" y="3886200"/>
            <a:ext cx="5212080" cy="242316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73368" y="4023360"/>
            <a:ext cx="484632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300">
                <a:solidFill>
                  <a:srgbClr val="2F5233"/>
                </a:solidFill>
              </a:rPr>
              <a:t>GAP 4: Broken Access Controls &amp; IDOR Flaws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1F2A1E"/>
                </a:solidFill>
              </a:rPr>
              <a:t>Current Issue: Insecure object references expose private customer addresses and provider bank accounts.
</a:t>
            </a:r>
          </a:p>
          <a:p>
            <a:pPr>
              <a:spcBef>
                <a:spcPts val="400"/>
              </a:spcBef>
            </a:pPr>
            <a:r>
              <a:rPr b="1" sz="1200">
                <a:solidFill>
                  <a:srgbClr val="16A34A"/>
                </a:solidFill>
              </a:rPr>
              <a:t>SmartServe Solution: </a:t>
            </a:r>
            <a:r>
              <a:rPr sz="1150">
                <a:solidFill>
                  <a:srgbClr val="1F2A1E"/>
                </a:solidFill>
              </a:rPr>
              <a:t>Zero-Trust RBAC with customer/provider token isolation and database-level data minimization filtering.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de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0" y="228600"/>
            <a:ext cx="1828800" cy="49377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256032"/>
            <a:ext cx="8778240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50" b="1">
                <a:solidFill>
                  <a:srgbClr val="1F2A1E"/>
                </a:solidFill>
                <a:latin typeface="Segoe UI"/>
              </a:rPr>
              <a:t>SYSTEM DESIGN &amp; TECH STACK  |  SLIDE 6 OF 12  •  PDEU ICT</a:t>
            </a:r>
          </a:p>
          <a:p>
            <a:r>
              <a:rPr sz="2200" b="1">
                <a:solidFill>
                  <a:srgbClr val="2F5233"/>
                </a:solidFill>
                <a:latin typeface="Segoe UI"/>
              </a:rPr>
              <a:t>Proposed Methodology &amp; System Architecture</a:t>
            </a:r>
          </a:p>
        </p:txBody>
      </p:sp>
      <p:pic>
        <p:nvPicPr>
          <p:cNvPr id="4" name="Picture 3" descr="architecture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325880"/>
            <a:ext cx="6675120" cy="51206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589520" y="1325880"/>
            <a:ext cx="3870655" cy="51206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26679" y="1417320"/>
            <a:ext cx="359633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300">
                <a:solidFill>
                  <a:srgbClr val="2F5233"/>
                </a:solidFill>
              </a:rPr>
              <a:t>CORE TECH STACK &amp; WHY WE CHOSE IT</a:t>
            </a:r>
          </a:p>
          <a:p>
            <a:pPr>
              <a:spcBef>
                <a:spcPts val="500"/>
              </a:spcBef>
            </a:pPr>
            <a:r>
              <a:rPr b="1" sz="1200">
                <a:solidFill>
                  <a:srgbClr val="1F2A1E"/>
                </a:solidFill>
              </a:rPr>
              <a:t>• Frontend (Vercel): </a:t>
            </a:r>
            <a:r>
              <a:rPr b="1" sz="1150">
                <a:solidFill>
                  <a:srgbClr val="2F5233"/>
                </a:solidFill>
              </a:rPr>
              <a:t>React 19 + TypeScript + Vite
</a:t>
            </a:r>
            <a:r>
              <a:rPr sz="1100">
                <a:solidFill>
                  <a:srgbClr val="64748B"/>
                </a:solidFill>
              </a:rPr>
              <a:t>   Why: Fast load times (&lt;1s); component-based modular portals for Customer, Partner, and Admin.</a:t>
            </a:r>
          </a:p>
          <a:p>
            <a:pPr>
              <a:spcBef>
                <a:spcPts val="500"/>
              </a:spcBef>
            </a:pPr>
            <a:r>
              <a:rPr b="1" sz="1200">
                <a:solidFill>
                  <a:srgbClr val="1F2A1E"/>
                </a:solidFill>
              </a:rPr>
              <a:t>• Backend API (Render Cloud): </a:t>
            </a:r>
            <a:r>
              <a:rPr b="1" sz="1150">
                <a:solidFill>
                  <a:srgbClr val="2F5233"/>
                </a:solidFill>
              </a:rPr>
              <a:t>Python 3.11 + FastAPI
</a:t>
            </a:r>
            <a:r>
              <a:rPr sz="1100">
                <a:solidFill>
                  <a:srgbClr val="64748B"/>
                </a:solidFill>
              </a:rPr>
              <a:t>   Why: Asynchronous high throughput; auto-generates live Swagger docs (/docs); Pydantic data validation.</a:t>
            </a:r>
          </a:p>
          <a:p>
            <a:pPr>
              <a:spcBef>
                <a:spcPts val="500"/>
              </a:spcBef>
            </a:pPr>
            <a:r>
              <a:rPr b="1" sz="1200">
                <a:solidFill>
                  <a:srgbClr val="1F2A1E"/>
                </a:solidFill>
              </a:rPr>
              <a:t>• Database (Supabase Cloud): </a:t>
            </a:r>
            <a:r>
              <a:rPr b="1" sz="1150">
                <a:solidFill>
                  <a:srgbClr val="2F5233"/>
                </a:solidFill>
              </a:rPr>
              <a:t>PostgreSQL 16 (Relational)
</a:t>
            </a:r>
            <a:r>
              <a:rPr sz="1100">
                <a:solidFill>
                  <a:srgbClr val="64748B"/>
                </a:solidFill>
              </a:rPr>
              <a:t>   Why: ACID transactions with foreign keys prevent double-bookings and corrupted records.</a:t>
            </a:r>
          </a:p>
          <a:p>
            <a:pPr>
              <a:spcBef>
                <a:spcPts val="500"/>
              </a:spcBef>
            </a:pPr>
            <a:r>
              <a:rPr b="1" sz="1200">
                <a:solidFill>
                  <a:srgbClr val="1F2A1E"/>
                </a:solidFill>
              </a:rPr>
              <a:t>• KYC AI Engine (Python): </a:t>
            </a:r>
            <a:r>
              <a:rPr b="1" sz="1150">
                <a:solidFill>
                  <a:srgbClr val="2F5233"/>
                </a:solidFill>
              </a:rPr>
              <a:t>PaddleOCR + EasyOCR
</a:t>
            </a:r>
            <a:r>
              <a:rPr sz="1100">
                <a:solidFill>
                  <a:srgbClr val="64748B"/>
                </a:solidFill>
              </a:rPr>
              <a:t>   Why: Dual-engine reads noisy Indian IDs (Aadhaar &amp; PAN) in 2.6s; automatic fallback if one fails.</a:t>
            </a:r>
          </a:p>
          <a:p>
            <a:pPr>
              <a:spcBef>
                <a:spcPts val="500"/>
              </a:spcBef>
            </a:pPr>
            <a:r>
              <a:rPr b="1" sz="1200">
                <a:solidFill>
                  <a:srgbClr val="1F2A1E"/>
                </a:solidFill>
              </a:rPr>
              <a:t>• Event Bus (Phase 2): </a:t>
            </a:r>
            <a:r>
              <a:rPr b="1" sz="1150">
                <a:solidFill>
                  <a:srgbClr val="2F5233"/>
                </a:solidFill>
              </a:rPr>
              <a:t>Apache Kafka / Redpanda Cloud
</a:t>
            </a:r>
            <a:r>
              <a:rPr sz="1100">
                <a:solidFill>
                  <a:srgbClr val="64748B"/>
                </a:solidFill>
              </a:rPr>
              <a:t>   Why: Decouples driver GPS telemetry and peak order spikes so database never locks up.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de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0" y="228600"/>
            <a:ext cx="1828800" cy="49377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256032"/>
            <a:ext cx="8778240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50" b="1">
                <a:solidFill>
                  <a:srgbClr val="1F2A1E"/>
                </a:solidFill>
                <a:latin typeface="Segoe UI"/>
              </a:rPr>
              <a:t>FORMAL SOFTWARE ENGINEERING  |  SLIDE 7 OF 12  •  PDEU ICT</a:t>
            </a:r>
          </a:p>
          <a:p>
            <a:r>
              <a:rPr sz="2200" b="1">
                <a:solidFill>
                  <a:srgbClr val="2F5233"/>
                </a:solidFill>
                <a:latin typeface="Segoe UI"/>
              </a:rPr>
              <a:t>System Modeling: DFD Level 0 Context &amp; UML Entity Class Diagram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5212080" cy="516636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fd_level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417320"/>
            <a:ext cx="4937760" cy="2926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68680" y="4434840"/>
            <a:ext cx="49377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300">
                <a:solidFill>
                  <a:srgbClr val="2F5233"/>
                </a:solidFill>
              </a:rPr>
              <a:t>DATA FLOW DIAGRAM (LEVEL 0 CONTEXT)</a:t>
            </a:r>
          </a:p>
          <a:p>
            <a:pPr>
              <a:spcBef>
                <a:spcPts val="300"/>
              </a:spcBef>
            </a:pPr>
            <a:r>
              <a:rPr b="1" sz="1200">
                <a:solidFill>
                  <a:srgbClr val="1F2A1E"/>
                </a:solidFill>
              </a:rPr>
              <a:t>• Three Clear Actors: </a:t>
            </a:r>
            <a:r>
              <a:rPr sz="1150">
                <a:solidFill>
                  <a:srgbClr val="1F2A1E"/>
                </a:solidFill>
              </a:rPr>
              <a:t>Customer, Service Partner, and Platform Admin.</a:t>
            </a:r>
          </a:p>
          <a:p>
            <a:pPr>
              <a:spcBef>
                <a:spcPts val="300"/>
              </a:spcBef>
            </a:pPr>
            <a:r>
              <a:rPr b="1" sz="1200">
                <a:solidFill>
                  <a:srgbClr val="1F2A1E"/>
                </a:solidFill>
              </a:rPr>
              <a:t>• Role Isolation: </a:t>
            </a:r>
            <a:r>
              <a:rPr sz="1150">
                <a:solidFill>
                  <a:srgbClr val="1F2A1E"/>
                </a:solidFill>
              </a:rPr>
              <a:t>Each actor interacts exclusively via authenticated, role-specific REST routes.</a:t>
            </a:r>
          </a:p>
          <a:p>
            <a:pPr>
              <a:spcBef>
                <a:spcPts val="300"/>
              </a:spcBef>
            </a:pPr>
            <a:r>
              <a:rPr b="1" sz="1200">
                <a:solidFill>
                  <a:srgbClr val="1F2A1E"/>
                </a:solidFill>
              </a:rPr>
              <a:t>• Input Validation: </a:t>
            </a:r>
            <a:r>
              <a:rPr sz="1150">
                <a:solidFill>
                  <a:srgbClr val="1F2A1E"/>
                </a:solidFill>
              </a:rPr>
              <a:t>FastAPI validates all incoming payloads with Pydantic schemas before DB writes.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25880"/>
            <a:ext cx="5212080" cy="516636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lass_diagr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1417320"/>
            <a:ext cx="4937760" cy="29260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55080" y="4434840"/>
            <a:ext cx="49377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300">
                <a:solidFill>
                  <a:srgbClr val="2F5233"/>
                </a:solidFill>
              </a:rPr>
              <a:t>UML CORE DOMAIN ENTITY MODEL</a:t>
            </a:r>
          </a:p>
          <a:p>
            <a:pPr>
              <a:spcBef>
                <a:spcPts val="300"/>
              </a:spcBef>
            </a:pPr>
            <a:r>
              <a:rPr b="1" sz="1200">
                <a:solidFill>
                  <a:srgbClr val="1F2A1E"/>
                </a:solidFill>
              </a:rPr>
              <a:t>• 1:1 Polymorphic Profiles: </a:t>
            </a:r>
            <a:r>
              <a:rPr sz="1150">
                <a:solidFill>
                  <a:srgbClr val="1F2A1E"/>
                </a:solidFill>
              </a:rPr>
              <a:t>Core 'users' table links 1:1 to CustomerProfile and ProviderProfile.</a:t>
            </a:r>
          </a:p>
          <a:p>
            <a:pPr>
              <a:spcBef>
                <a:spcPts val="300"/>
              </a:spcBef>
            </a:pPr>
            <a:r>
              <a:rPr b="1" sz="1200">
                <a:solidFill>
                  <a:srgbClr val="1F2A1E"/>
                </a:solidFill>
              </a:rPr>
              <a:t>• Relational Integrity: </a:t>
            </a:r>
            <a:r>
              <a:rPr sz="1150">
                <a:solidFill>
                  <a:srgbClr val="1F2A1E"/>
                </a:solidFill>
              </a:rPr>
              <a:t>Foreign keys connect Bookings, Services, and Verification records without data loss.</a:t>
            </a:r>
          </a:p>
          <a:p>
            <a:pPr>
              <a:spcBef>
                <a:spcPts val="300"/>
              </a:spcBef>
            </a:pPr>
            <a:r>
              <a:rPr b="1" sz="1200">
                <a:solidFill>
                  <a:srgbClr val="1F2A1E"/>
                </a:solidFill>
              </a:rPr>
              <a:t>• Complete Audit Trail: </a:t>
            </a:r>
            <a:r>
              <a:rPr sz="1150">
                <a:solidFill>
                  <a:srgbClr val="1F2A1E"/>
                </a:solidFill>
              </a:rPr>
              <a:t>Tracks timestamps for requested, started, and OTP-completed transitions.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de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0" y="228600"/>
            <a:ext cx="1828800" cy="49377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256032"/>
            <a:ext cx="8778240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50" b="1">
                <a:solidFill>
                  <a:srgbClr val="1F2A1E"/>
                </a:solidFill>
                <a:latin typeface="Segoe UI"/>
              </a:rPr>
              <a:t>CORE ALGORITHMS &amp; LIFECYCLES  |  SLIDE 8 OF 12  •  PDEU ICT</a:t>
            </a:r>
          </a:p>
          <a:p>
            <a:r>
              <a:rPr sz="2200" b="1">
                <a:solidFill>
                  <a:srgbClr val="2F5233"/>
                </a:solidFill>
                <a:latin typeface="Segoe UI"/>
              </a:rPr>
              <a:t>Booking State Machine (FSM) &amp; Dual-Engine OCR KYC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5212080" cy="516636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sm_state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417320"/>
            <a:ext cx="4937760" cy="2926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68680" y="4434840"/>
            <a:ext cx="49377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300">
                <a:solidFill>
                  <a:srgbClr val="2F5233"/>
                </a:solidFill>
              </a:rPr>
              <a:t>ATOMIC 5-STAGE BOOKING FINITE STATE MACHINE</a:t>
            </a:r>
          </a:p>
          <a:p>
            <a:pPr>
              <a:spcBef>
                <a:spcPts val="300"/>
              </a:spcBef>
            </a:pPr>
            <a:r>
              <a:rPr b="1" sz="1200">
                <a:solidFill>
                  <a:srgbClr val="1F2A1E"/>
                </a:solidFill>
              </a:rPr>
              <a:t>• Strict Lifecycle: </a:t>
            </a:r>
            <a:r>
              <a:rPr sz="1150">
                <a:solidFill>
                  <a:srgbClr val="1F2A1E"/>
                </a:solidFill>
              </a:rPr>
              <a:t>REQUESTED → ACCEPTED → STARTED → COMPLETED.</a:t>
            </a:r>
          </a:p>
          <a:p>
            <a:pPr>
              <a:spcBef>
                <a:spcPts val="300"/>
              </a:spcBef>
            </a:pPr>
            <a:r>
              <a:rPr b="1" sz="1200">
                <a:solidFill>
                  <a:srgbClr val="1F2A1E"/>
                </a:solidFill>
              </a:rPr>
              <a:t>• Zero Double-Booking: </a:t>
            </a:r>
            <a:r>
              <a:rPr sz="1150">
                <a:solidFill>
                  <a:srgbClr val="1F2A1E"/>
                </a:solidFill>
              </a:rPr>
              <a:t>A provider cannot accept overlapping active jobs.</a:t>
            </a:r>
          </a:p>
          <a:p>
            <a:pPr>
              <a:spcBef>
                <a:spcPts val="300"/>
              </a:spcBef>
            </a:pPr>
            <a:r>
              <a:rPr b="1" sz="1200">
                <a:solidFill>
                  <a:srgbClr val="1F2A1E"/>
                </a:solidFill>
              </a:rPr>
              <a:t>• Customer OTP Security: </a:t>
            </a:r>
            <a:r>
              <a:rPr sz="1150">
                <a:solidFill>
                  <a:srgbClr val="1F2A1E"/>
                </a:solidFill>
              </a:rPr>
              <a:t>Job CANNOT be marked complete without the customer's secret 4-digit OTP.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25880"/>
            <a:ext cx="5212080" cy="516636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equence_swimla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1417320"/>
            <a:ext cx="4937760" cy="29260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55080" y="4434840"/>
            <a:ext cx="49377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300">
                <a:solidFill>
                  <a:srgbClr val="2F5233"/>
                </a:solidFill>
              </a:rPr>
              <a:t>DUAL-ENGINE OCR KYC &amp; OPERATIONAL SWIMLANE</a:t>
            </a:r>
          </a:p>
          <a:p>
            <a:pPr>
              <a:spcBef>
                <a:spcPts val="300"/>
              </a:spcBef>
            </a:pPr>
            <a:r>
              <a:rPr b="1" sz="1200">
                <a:solidFill>
                  <a:srgbClr val="1F2A1E"/>
                </a:solidFill>
              </a:rPr>
              <a:t>• Dual-Engine Speed: </a:t>
            </a:r>
            <a:r>
              <a:rPr sz="1150">
                <a:solidFill>
                  <a:srgbClr val="1F2A1E"/>
                </a:solidFill>
              </a:rPr>
              <a:t>PaddleOCR (primary) + EasyOCR (fallback) extracts identity data in &lt;2.6s.</a:t>
            </a:r>
          </a:p>
          <a:p>
            <a:pPr>
              <a:spcBef>
                <a:spcPts val="300"/>
              </a:spcBef>
            </a:pPr>
            <a:r>
              <a:rPr b="1" sz="1200">
                <a:solidFill>
                  <a:srgbClr val="1F2A1E"/>
                </a:solidFill>
              </a:rPr>
              <a:t>• Automated Risk Parser: </a:t>
            </a:r>
            <a:r>
              <a:rPr sz="1150">
                <a:solidFill>
                  <a:srgbClr val="1F2A1E"/>
                </a:solidFill>
              </a:rPr>
              <a:t>Regex heuristic validates 12-digit Aadhaar &amp; 10-digit PAN format.</a:t>
            </a:r>
          </a:p>
          <a:p>
            <a:pPr>
              <a:spcBef>
                <a:spcPts val="300"/>
              </a:spcBef>
            </a:pPr>
            <a:r>
              <a:rPr b="1" sz="1200">
                <a:solidFill>
                  <a:srgbClr val="1F2A1E"/>
                </a:solidFill>
              </a:rPr>
              <a:t>• End-to-End Sequence: </a:t>
            </a:r>
            <a:r>
              <a:rPr sz="1150">
                <a:solidFill>
                  <a:srgbClr val="1F2A1E"/>
                </a:solidFill>
              </a:rPr>
              <a:t>Swimlane maps the complete interaction between Customer, Gateway, DB, and Partner.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de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0" y="228600"/>
            <a:ext cx="1828800" cy="49377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256032"/>
            <a:ext cx="8778240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50" b="1">
                <a:solidFill>
                  <a:srgbClr val="1F2A1E"/>
                </a:solidFill>
                <a:latin typeface="Segoe UI"/>
              </a:rPr>
              <a:t>COMPLETED ENGINEERING DELIVERABLES  |  SLIDE 9 OF 12  •  PDEU ICT</a:t>
            </a:r>
          </a:p>
          <a:p>
            <a:r>
              <a:rPr sz="2200" b="1">
                <a:solidFill>
                  <a:srgbClr val="2F5233"/>
                </a:solidFill>
                <a:latin typeface="Segoe UI"/>
              </a:rPr>
              <a:t>Work Done: Mid-Semester Implementation Status (~55%)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5212080" cy="242316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484632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350">
                <a:solidFill>
                  <a:srgbClr val="1F2A1E"/>
                </a:solidFill>
              </a:rPr>
              <a:t>Master Service Catalog Engine</a:t>
            </a:r>
          </a:p>
          <a:p>
            <a:pPr>
              <a:spcBef>
                <a:spcPts val="300"/>
              </a:spcBef>
            </a:pPr>
            <a:r>
              <a:rPr b="1" sz="1200">
                <a:solidFill>
                  <a:srgbClr val="16A34A"/>
                </a:solidFill>
              </a:rPr>
              <a:t>Status: 100% COMPLETE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1F2A1E"/>
                </a:solidFill>
              </a:rPr>
              <a:t>• 14 Macro-Categories, 78 Subcategories, 457 Services.
• Seeded in PostgreSQL with fixed durations, inclusions, and transparent rates.
• Protected by 11 Inviolable Catalog Rules (zero data contamination).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90488" y="1325880"/>
            <a:ext cx="5212080" cy="242316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73368" y="1463040"/>
            <a:ext cx="484632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350">
                <a:solidFill>
                  <a:srgbClr val="1F2A1E"/>
                </a:solidFill>
              </a:rPr>
              <a:t>Modular FastAPI Backend on Render</a:t>
            </a:r>
          </a:p>
          <a:p>
            <a:pPr>
              <a:spcBef>
                <a:spcPts val="300"/>
              </a:spcBef>
            </a:pPr>
            <a:r>
              <a:rPr b="1" sz="1200">
                <a:solidFill>
                  <a:srgbClr val="16A34A"/>
                </a:solidFill>
              </a:rPr>
              <a:t>Status: 100% COMPLETE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1F2A1E"/>
                </a:solidFill>
              </a:rPr>
              <a:t>• Asynchronous REST API running live on Render Cloud.
• Pydantic V2 request validation and database pooling on Supabase PostgreSQL.
• Interactive OpenAPI documentation available at `/docs` with &lt;50ms response.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886200"/>
            <a:ext cx="5212080" cy="242316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023360"/>
            <a:ext cx="484632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350">
                <a:solidFill>
                  <a:srgbClr val="1F2A1E"/>
                </a:solidFill>
              </a:rPr>
              <a:t>Multi-Portal Frontends on Vercel</a:t>
            </a:r>
          </a:p>
          <a:p>
            <a:pPr>
              <a:spcBef>
                <a:spcPts val="300"/>
              </a:spcBef>
            </a:pPr>
            <a:r>
              <a:rPr b="1" sz="1200">
                <a:solidFill>
                  <a:srgbClr val="16A34A"/>
                </a:solidFill>
              </a:rPr>
              <a:t>Status: 100% COMPLETE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1F2A1E"/>
                </a:solidFill>
              </a:rPr>
              <a:t>• 4 Independent React 19 + Vite SPAs deployed on Vercel.
• Single Page App (SPA) route rewrites configured via vercel.json.
• Live Portals: Landing Gateway, Customer Portal, Partner Workspace, Admin Console.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0488" y="3886200"/>
            <a:ext cx="5212080" cy="242316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73368" y="4023360"/>
            <a:ext cx="484632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350">
                <a:solidFill>
                  <a:srgbClr val="1F2A1E"/>
                </a:solidFill>
              </a:rPr>
              <a:t>Event Streaming &amp; GPS Telemetry</a:t>
            </a:r>
          </a:p>
          <a:p>
            <a:pPr>
              <a:spcBef>
                <a:spcPts val="300"/>
              </a:spcBef>
            </a:pPr>
            <a:r>
              <a:rPr b="1" sz="1200">
                <a:solidFill>
                  <a:srgbClr val="D97706"/>
                </a:solidFill>
              </a:rPr>
              <a:t>Status: IN PROGRESS (~40%)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1F2A1E"/>
                </a:solidFill>
              </a:rPr>
              <a:t>• 7 Canonical Kafka event topic schemas designed &amp; verified in connection tests.
• Leaflet map route geometries implemented on client interfaces.
• Full broker orchestration &amp; WebSocket live driver tracking scheduled for End-Sem.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de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0" y="228600"/>
            <a:ext cx="1828800" cy="49377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256032"/>
            <a:ext cx="8778240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50" b="1">
                <a:solidFill>
                  <a:srgbClr val="1F2A1E"/>
                </a:solidFill>
                <a:latin typeface="Segoe UI"/>
              </a:rPr>
              <a:t>LIVE CLOUD PROOF  |  SLIDE 10 OF 12  •  PDEU ICT</a:t>
            </a:r>
          </a:p>
          <a:p>
            <a:r>
              <a:rPr sz="2200" b="1">
                <a:solidFill>
                  <a:srgbClr val="2F5233"/>
                </a:solidFill>
                <a:latin typeface="Segoe UI"/>
              </a:rPr>
              <a:t>Results Obtained: Live Deployed System &amp; UI Verification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3474720" cy="3977639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3474720" cy="594360"/>
          </a:xfrm>
          <a:prstGeom prst="roundRect">
            <a:avLst/>
          </a:prstGeom>
          <a:solidFill>
            <a:srgbClr val="2F5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200">
                <a:solidFill>
                  <a:srgbClr val="FFFFFF"/>
                </a:solidFill>
              </a:rPr>
              <a:t>Customer Live Dashboard</a:t>
            </a:r>
          </a:p>
        </p:txBody>
      </p:sp>
      <p:pic>
        <p:nvPicPr>
          <p:cNvPr id="6" name="Picture 5" descr="screenshot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011680"/>
            <a:ext cx="3291840" cy="24688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452628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64748B"/>
                </a:solidFill>
              </a:rPr>
              <a:t>Live Bookings &amp; 8 Categories from Supabase DB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61688" y="1325880"/>
            <a:ext cx="3474720" cy="3977639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361688" y="1325880"/>
            <a:ext cx="3474720" cy="594360"/>
          </a:xfrm>
          <a:prstGeom prst="roundRect">
            <a:avLst/>
          </a:prstGeom>
          <a:solidFill>
            <a:srgbClr val="2F5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200">
                <a:solidFill>
                  <a:srgbClr val="FFFFFF"/>
                </a:solidFill>
              </a:rPr>
              <a:t>Service Pricing &amp; SLA</a:t>
            </a:r>
          </a:p>
        </p:txBody>
      </p:sp>
      <p:pic>
        <p:nvPicPr>
          <p:cNvPr id="10" name="Picture 9" descr="screenshot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3128" y="2011680"/>
            <a:ext cx="3291840" cy="24688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453128" y="452628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64748B"/>
                </a:solidFill>
              </a:rPr>
              <a:t>Full Home Deep Cleaning (₹5,089 / 180 Mins)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91856" y="1325880"/>
            <a:ext cx="3474720" cy="3977639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991856" y="1325880"/>
            <a:ext cx="3474720" cy="594360"/>
          </a:xfrm>
          <a:prstGeom prst="roundRect">
            <a:avLst/>
          </a:prstGeom>
          <a:solidFill>
            <a:srgbClr val="2F5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200">
                <a:solidFill>
                  <a:srgbClr val="FFFFFF"/>
                </a:solidFill>
              </a:rPr>
              <a:t>Landing Role Selector</a:t>
            </a:r>
          </a:p>
        </p:txBody>
      </p:sp>
      <p:pic>
        <p:nvPicPr>
          <p:cNvPr id="14" name="Picture 13" descr="screenshot_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3296" y="2011680"/>
            <a:ext cx="3291840" cy="24688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083296" y="452628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64748B"/>
                </a:solidFill>
              </a:rPr>
              <a:t>Public Showcase Gate linking Customer &amp; Partner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440680"/>
            <a:ext cx="10728655" cy="105156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486400"/>
            <a:ext cx="103327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50">
                <a:solidFill>
                  <a:srgbClr val="16A34A"/>
                </a:solidFill>
              </a:rPr>
              <a:t>VERIFIED PERFORMANCE BENCHMARKS:  </a:t>
            </a:r>
            <a:r>
              <a:rPr sz="1150">
                <a:solidFill>
                  <a:srgbClr val="1F2A1E"/>
                </a:solidFill>
              </a:rPr>
              <a:t>Dual-Engine OCR Latency: 2.64s  •  API Health Latency: 48ms  •  Database Query Latency: 14–38ms  •  Integration Test Suite: 24/24 Passed (0 Failures)  •  IDOR Security Flaws: 0 Detected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de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0" y="228600"/>
            <a:ext cx="1828800" cy="49377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256032"/>
            <a:ext cx="8778240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50" b="1">
                <a:solidFill>
                  <a:srgbClr val="1F2A1E"/>
                </a:solidFill>
                <a:latin typeface="Segoe UI"/>
              </a:rPr>
              <a:t>SPRINT TIMELINE  |  SLIDE 11 OF 12  •  PDEU ICT</a:t>
            </a:r>
          </a:p>
          <a:p>
            <a:r>
              <a:rPr sz="2200" b="1">
                <a:solidFill>
                  <a:srgbClr val="2F5233"/>
                </a:solidFill>
                <a:latin typeface="Segoe UI"/>
              </a:rPr>
              <a:t>Conclusion &amp; Phase 2 Roadmap (End-Semester Plan)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2560320" cy="41605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2560320" cy="685800"/>
          </a:xfrm>
          <a:prstGeom prst="roundRect">
            <a:avLst/>
          </a:prstGeom>
          <a:solidFill>
            <a:srgbClr val="2F5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50">
                <a:solidFill>
                  <a:srgbClr val="FFFFFF"/>
                </a:solidFill>
              </a:rPr>
              <a:t>Sprint 1 (Weeks 8–9)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2103120"/>
            <a:ext cx="2340864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50">
                <a:solidFill>
                  <a:srgbClr val="1F2A1E"/>
                </a:solidFill>
              </a:rPr>
              <a:t>Kafka Event Bus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1F2A1E"/>
                </a:solidFill>
              </a:rPr>
              <a:t>• Activate Redpanda Cloud cluster across all 7 canonical event topics.
• Implement async consumer group processing for order dispatch.
• Telemetry logging &amp; cluster health monitoring.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56432" y="1325880"/>
            <a:ext cx="2560320" cy="41605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456432" y="1325880"/>
            <a:ext cx="2560320" cy="68580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50">
                <a:solidFill>
                  <a:srgbClr val="FFFFFF"/>
                </a:solidFill>
              </a:rPr>
              <a:t>Sprint 2 (Weeks 10–11)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2103120"/>
            <a:ext cx="2340864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50">
                <a:solidFill>
                  <a:srgbClr val="1F2A1E"/>
                </a:solidFill>
              </a:rPr>
              <a:t>GPS Live Telemetry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1F2A1E"/>
                </a:solidFill>
              </a:rPr>
              <a:t>• WebSocket coordinate streaming between provider mobile &amp; customer map.
• Interactive Leaflet route geometry simulation with live ETA.
• Proximity alerts when provider is within 500m.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1344" y="1325880"/>
            <a:ext cx="2560320" cy="41605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81344" y="1325880"/>
            <a:ext cx="2560320" cy="6858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50">
                <a:solidFill>
                  <a:srgbClr val="FFFFFF"/>
                </a:solidFill>
              </a:rPr>
              <a:t>Sprint 3 (Weeks 12–13)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91072" y="2103120"/>
            <a:ext cx="2340864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50">
                <a:solidFill>
                  <a:srgbClr val="1F2A1E"/>
                </a:solidFill>
              </a:rPr>
              <a:t>Payment &amp; Escrow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1F2A1E"/>
                </a:solidFill>
              </a:rPr>
              <a:t>• Razorpay / Stripe webhook integration.
• Automated escrow fund hold on booking creation.
• Instant release to provider wallet upon verified customer OTP completion.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06256" y="1325880"/>
            <a:ext cx="2560320" cy="41605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906256" y="1325880"/>
            <a:ext cx="2560320" cy="685800"/>
          </a:xfrm>
          <a:prstGeom prst="roundRect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50">
                <a:solidFill>
                  <a:srgbClr val="FFFFFF"/>
                </a:solidFill>
              </a:rPr>
              <a:t>Sprint 4 (Weeks 14–15)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15984" y="2103120"/>
            <a:ext cx="2340864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50">
                <a:solidFill>
                  <a:srgbClr val="1F2A1E"/>
                </a:solidFill>
              </a:rPr>
              <a:t>Load Test &amp; Audit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1F2A1E"/>
                </a:solidFill>
              </a:rPr>
              <a:t>• Locust load testing with 1,000 concurrent virtual users.
• Final security penetration pass &amp; accessibility compliance.
• Comprehensive End-Semester Major Project Report submission.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623560"/>
            <a:ext cx="10728655" cy="8686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F52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669280"/>
            <a:ext cx="10332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2F5233"/>
                </a:solidFill>
              </a:rPr>
              <a:t>MID-SEMESTER CONCLUSION: </a:t>
            </a:r>
            <a:r>
              <a:rPr sz="1150">
                <a:solidFill>
                  <a:srgbClr val="1F2A1E"/>
                </a:solidFill>
              </a:rPr>
              <a:t>Foundational architecture, relational schemas, dual-engine OCR algorithms, and multi-portal web applications are 100% operational. The upcoming sprints will complete distributed event streaming, live telemetry, and financial escrow.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F52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594360"/>
            <a:ext cx="10362895" cy="56692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77240"/>
            <a:ext cx="999713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2F5233"/>
                </a:solidFill>
                <a:latin typeface="Segoe UI"/>
              </a:rPr>
              <a:t>THANK YOU!</a:t>
            </a:r>
          </a:p>
          <a:p>
            <a:pPr algn="ctr">
              <a:spcBef>
                <a:spcPts val="400"/>
              </a:spcBef>
            </a:pPr>
            <a:r>
              <a:rPr sz="1350" b="1">
                <a:solidFill>
                  <a:srgbClr val="C9A15A"/>
                </a:solidFill>
              </a:rPr>
              <a:t>Minor Project Mid-Semester Evaluation  •  B.Tech in ICT, 7th Semester (2026-2027)</a:t>
            </a:r>
          </a:p>
          <a:p>
            <a:pPr algn="ctr">
              <a:spcBef>
                <a:spcPts val="400"/>
              </a:spcBef>
            </a:pPr>
            <a:r>
              <a:rPr sz="1200">
                <a:solidFill>
                  <a:srgbClr val="1F2A1E"/>
                </a:solidFill>
              </a:rPr>
              <a:t>Pushkar Kanjani (23BIT153) &amp; Aastha (23BIT095)   |   Project Mentor: Dr. Deepak Kumar Sharma, Asst. Professor, Dept. of ICT, SoT, PDEU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280160" y="2286000"/>
            <a:ext cx="9631375" cy="3108960"/>
          </a:xfrm>
          <a:prstGeom prst="roundRect">
            <a:avLst/>
          </a:prstGeom>
          <a:solidFill>
            <a:srgbClr val="F8FAFC"/>
          </a:solidFill>
          <a:ln w="17780">
            <a:solidFill>
              <a:srgbClr val="2F52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280160" y="2286000"/>
            <a:ext cx="9631375" cy="640080"/>
          </a:xfrm>
          <a:prstGeom prst="roundRect">
            <a:avLst/>
          </a:prstGeom>
          <a:solidFill>
            <a:srgbClr val="2F5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350">
                <a:solidFill>
                  <a:srgbClr val="FFFFFF"/>
                </a:solidFill>
              </a:rPr>
              <a:t>LIVE DEPLOYED CLOUD PLATFORM &amp; API DEMO GATEWAYS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3017520"/>
            <a:ext cx="43891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1F2A1E"/>
                </a:solidFill>
              </a:rPr>
              <a:t>• Public Landing Showcase: 
</a:t>
            </a:r>
            <a:r>
              <a:rPr sz="1100">
                <a:solidFill>
                  <a:srgbClr val="2563EB"/>
                </a:solidFill>
              </a:rPr>
              <a:t>   https://smartserve-landing-ten.vercel.app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1F2A1E"/>
                </a:solidFill>
              </a:rPr>
              <a:t>• Customer Booking Portal: 
</a:t>
            </a:r>
            <a:r>
              <a:rPr sz="1100">
                <a:solidFill>
                  <a:srgbClr val="2563EB"/>
                </a:solidFill>
              </a:rPr>
              <a:t>   https://smartserve-customer-alpha.vercel.app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1F2A1E"/>
                </a:solidFill>
              </a:rPr>
              <a:t>• Service Partner Workspace: 
</a:t>
            </a:r>
            <a:r>
              <a:rPr sz="1100">
                <a:solidFill>
                  <a:srgbClr val="2563EB"/>
                </a:solidFill>
              </a:rPr>
              <a:t>   https://smartserve-provider.vercel.app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3017520"/>
            <a:ext cx="43891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1F2A1E"/>
                </a:solidFill>
              </a:rPr>
              <a:t>• Admin Control Tower: 
</a:t>
            </a:r>
            <a:r>
              <a:rPr sz="1100">
                <a:solidFill>
                  <a:srgbClr val="2563EB"/>
                </a:solidFill>
              </a:rPr>
              <a:t>   https://smartserve-admin-flax.vercel.app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1F2A1E"/>
                </a:solidFill>
              </a:rPr>
              <a:t>• Interactive Swagger API Docs: 
</a:t>
            </a:r>
            <a:r>
              <a:rPr sz="1100">
                <a:solidFill>
                  <a:srgbClr val="2563EB"/>
                </a:solidFill>
              </a:rPr>
              <a:t>   https://smartserve-api-de3f.onrender.com/docs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1F2A1E"/>
                </a:solidFill>
              </a:rPr>
              <a:t>• API Health &amp; Telemetry: 
</a:t>
            </a:r>
            <a:r>
              <a:rPr sz="1100">
                <a:solidFill>
                  <a:srgbClr val="2563EB"/>
                </a:solidFill>
              </a:rPr>
              <a:t>   https://smartserve-api-de3f.onrender.com/health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5486400"/>
            <a:ext cx="963137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>
                <a:solidFill>
                  <a:srgbClr val="64748B"/>
                </a:solidFill>
              </a:rPr>
              <a:t>We welcome questions, feedback, and suggestions from the Evaluation Committee.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